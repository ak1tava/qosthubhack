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ba01c8ce8294f32" /><Relationship Type="http://schemas.openxmlformats.org/officeDocument/2006/relationships/extended-properties" Target="/docProps/app.xml" Id="R3e925de7bd854363" /><Relationship Type="http://schemas.openxmlformats.org/officeDocument/2006/relationships/officeDocument" Target="/ppt/presentation.xml" Id="Rdff1377bca7a4d3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f7ce14de1394741"/>
  </p:sldMasterIdLst>
  <p:notesMasterIdLst>
    <p:notesMasterId xmlns:r="http://schemas.openxmlformats.org/officeDocument/2006/relationships" r:id="R0e9ccbf2d1eb4ed7"/>
  </p:notesMasterIdLst>
  <p:sldIdLst>
    <p:sldId xmlns:r="http://schemas.openxmlformats.org/officeDocument/2006/relationships" id="256" r:id="R2abee39f588f43f2"/>
    <p:sldId xmlns:r="http://schemas.openxmlformats.org/officeDocument/2006/relationships" id="257" r:id="R5d02c6438e1f4d34"/>
    <p:sldId xmlns:r="http://schemas.openxmlformats.org/officeDocument/2006/relationships" id="258" r:id="R822196cc46ba4b34"/>
    <p:sldId xmlns:r="http://schemas.openxmlformats.org/officeDocument/2006/relationships" id="259" r:id="R0787c01cfa234519"/>
    <p:sldId xmlns:r="http://schemas.openxmlformats.org/officeDocument/2006/relationships" id="260" r:id="Rfdebd8aca21f4447"/>
    <p:sldId xmlns:r="http://schemas.openxmlformats.org/officeDocument/2006/relationships" id="261" r:id="R0e6583c517424479"/>
    <p:sldId xmlns:r="http://schemas.openxmlformats.org/officeDocument/2006/relationships" id="262" r:id="R83e250df729346df"/>
    <p:sldId xmlns:r="http://schemas.openxmlformats.org/officeDocument/2006/relationships" id="263" r:id="R27d46366dd714cb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f9ff074262344af" /><Relationship Type="http://schemas.openxmlformats.org/officeDocument/2006/relationships/slideMaster" Target="/ppt/slideMasters/slideMaster1.xml" Id="Rdf7ce14de1394741" /><Relationship Type="http://schemas.openxmlformats.org/officeDocument/2006/relationships/notesMaster" Target="/ppt/notesMasters/notesMaster1.xml" Id="R0e9ccbf2d1eb4ed7" /><Relationship Type="http://schemas.openxmlformats.org/officeDocument/2006/relationships/presProps" Target="/ppt/presProps.xml" Id="R3c61f783dce14861" /><Relationship Type="http://schemas.openxmlformats.org/officeDocument/2006/relationships/tableStyles" Target="/ppt/tableStyles.xml" Id="R19fc9ca45db449b2" /><Relationship Type="http://schemas.openxmlformats.org/officeDocument/2006/relationships/slide" Target="/ppt/slides/slide1.xml" Id="R2abee39f588f43f2" /><Relationship Type="http://schemas.openxmlformats.org/officeDocument/2006/relationships/slide" Target="/ppt/slides/slide2.xml" Id="R5d02c6438e1f4d34" /><Relationship Type="http://schemas.openxmlformats.org/officeDocument/2006/relationships/slide" Target="/ppt/slides/slide3.xml" Id="R822196cc46ba4b34" /><Relationship Type="http://schemas.openxmlformats.org/officeDocument/2006/relationships/slide" Target="/ppt/slides/slide4.xml" Id="R0787c01cfa234519" /><Relationship Type="http://schemas.openxmlformats.org/officeDocument/2006/relationships/slide" Target="/ppt/slides/slide5.xml" Id="Rfdebd8aca21f4447" /><Relationship Type="http://schemas.openxmlformats.org/officeDocument/2006/relationships/slide" Target="/ppt/slides/slide6.xml" Id="R0e6583c517424479" /><Relationship Type="http://schemas.openxmlformats.org/officeDocument/2006/relationships/slide" Target="/ppt/slides/slide7.xml" Id="R83e250df729346df" /><Relationship Type="http://schemas.openxmlformats.org/officeDocument/2006/relationships/slide" Target="/ppt/slides/slide8.xml" Id="R27d46366dd714cb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4e7d22bbd064a9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8c68dc17a9a4b46" /><Relationship Type="http://schemas.openxmlformats.org/officeDocument/2006/relationships/notesMaster" Target="/ppt/notesMasters/notesMaster1.xml" Id="R962136bc577f44c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4698c813c1740e2" /><Relationship Type="http://schemas.openxmlformats.org/officeDocument/2006/relationships/notesMaster" Target="/ppt/notesMasters/notesMaster1.xml" Id="R591df83f5f1c48b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d4152b32f1c492d" /><Relationship Type="http://schemas.openxmlformats.org/officeDocument/2006/relationships/notesMaster" Target="/ppt/notesMasters/notesMaster1.xml" Id="R0fd35ef612634ad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447bfd8f5eb41d7" /><Relationship Type="http://schemas.openxmlformats.org/officeDocument/2006/relationships/notesMaster" Target="/ppt/notesMasters/notesMaster1.xml" Id="R1963c98515ec4dd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822bf0d6ded4eae" /><Relationship Type="http://schemas.openxmlformats.org/officeDocument/2006/relationships/notesMaster" Target="/ppt/notesMasters/notesMaster1.xml" Id="Rb8f6ebd52fb64ca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dd693e1e78f4c4e" /><Relationship Type="http://schemas.openxmlformats.org/officeDocument/2006/relationships/notesMaster" Target="/ppt/notesMasters/notesMaster1.xml" Id="R2bc3f06bd5f04ff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67a0083a56c4b00" /><Relationship Type="http://schemas.openxmlformats.org/officeDocument/2006/relationships/notesMaster" Target="/ppt/notesMasters/notesMaster1.xml" Id="R250aea16641241b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792955fd72e45ab" /><Relationship Type="http://schemas.openxmlformats.org/officeDocument/2006/relationships/notesMaster" Target="/ppt/notesMasters/notesMaster1.xml" Id="Rc6961470991b40b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Кейс АО «Костанайские минералы». QOSTANAI AI INDUSTRY HACKATHON 2026. Источник: readme.md. Демонстрационные данные синтетические.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Проблема и обязательный сценарий: readme.md, plans.md R01–R08. Не заявлять доказанную экономию без производственного измерения.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Покажите живой сценарий из docs/demo.md. iPhone устанавливает PWA через Safari; Android через Chrome. Персональные данные в демонстрации не используются.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Источники: plans.md C5, docs/T07-quality-verification.md. ИИ не удостоверяет исправность скрытых узлов или безопасность запуска по одному фото. Маленький фотонабор не доказывает производственную точность.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Реализация T08: analytics API; временные интервалы [start,end), timezone предприятия. После интеграции вставьте демонстрацию настоящего отчёта, не выдумывайте показатели.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plans.md C6 и утверждённый scope T08. Для Q/T используются финальные принятые отчёты; сравнение внутри специальности и типа работ. Без закрытых работ итог не рассчитывается. Не выдавать null за ноль.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Источники: plans.md C6, docs/T09-data.md. 500 синтетических нарядов за три месяца. Корреляция не доказывает причину или вину исполнителя. Эталон expected_anomalies используется тестами, не runtime.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Фактический результат и commit SHA см. docs/verification.md. Мобильные числа являются критериями, пока реальные замеры не записаны. HTTPS-туннель временный, компьютер работает без сна. Дополнительный лимит живого ИИ $2.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c59ee27dee540b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f351bdae1274beb" /><Relationship Type="http://schemas.openxmlformats.org/officeDocument/2006/relationships/slideLayout" Target="/ppt/slideLayouts/slideLayout1.xml" Id="R5a4e436bfcae41e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a4e436bfcae41e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4f2ca11d174417" /><Relationship Type="http://schemas.openxmlformats.org/officeDocument/2006/relationships/notesSlide" Target="/ppt/notesSlides/notesSlide1.xml" Id="Rc507aa35c69b41f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0e3a5b336a42d1" /><Relationship Type="http://schemas.openxmlformats.org/officeDocument/2006/relationships/notesSlide" Target="/ppt/notesSlides/notesSlide2.xml" Id="R7b14ae0cc69f407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9a3c55612d4226" /><Relationship Type="http://schemas.openxmlformats.org/officeDocument/2006/relationships/notesSlide" Target="/ppt/notesSlides/notesSlide3.xml" Id="Rbf98b0211b094cb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233fbfb8994154" /><Relationship Type="http://schemas.openxmlformats.org/officeDocument/2006/relationships/notesSlide" Target="/ppt/notesSlides/notesSlide4.xml" Id="R0f7aa6a160214ad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6036a5343746ca" /><Relationship Type="http://schemas.openxmlformats.org/officeDocument/2006/relationships/notesSlide" Target="/ppt/notesSlides/notesSlide5.xml" Id="Ra3de8f02f50b499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b5a9f1be8a4785" /><Relationship Type="http://schemas.openxmlformats.org/officeDocument/2006/relationships/notesSlide" Target="/ppt/notesSlides/notesSlide6.xml" Id="R6f76d6a5638d462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835f0e2a6841b8" /><Relationship Type="http://schemas.openxmlformats.org/officeDocument/2006/relationships/notesSlide" Target="/ppt/notesSlides/notesSlide7.xml" Id="R3c42222aa368451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b25f4fa9e54934" /><Relationship Type="http://schemas.openxmlformats.org/officeDocument/2006/relationships/notesSlide" Target="/ppt/notesSlides/notesSlide8.xml" Id="Rc168253da33841a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7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517CAB-B23C-4DE4-AB12-9D253F290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62100"/>
            <a:ext cx="107442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5700" b="1">
                <a:solidFill>
                  <a:srgbClr val="183038"/>
                </a:solidFill>
                <a:latin typeface="Arial"/>
                <a:ea typeface="Arial"/>
                <a:cs typeface="Arial"/>
              </a:defRPr>
            </a:pPr>
            <a:r>
              <a:rPr sz="5700" b="1">
                <a:solidFill>
                  <a:srgbClr val="183038"/>
                </a:solidFill>
                <a:latin typeface="Arial"/>
                <a:ea typeface="Arial"/>
                <a:cs typeface="Arial"/>
              </a:rPr>
              <a:t>НарядAI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C36F7F-5D68-497A-BA75-E85606348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09875"/>
            <a:ext cx="106203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>
                <a:solidFill>
                  <a:srgbClr val="264A54"/>
                </a:solidFill>
                <a:latin typeface="Arial"/>
                <a:ea typeface="Arial"/>
                <a:cs typeface="Arial"/>
              </a:defRPr>
            </a:pPr>
            <a:r>
              <a:rPr sz="2700">
                <a:solidFill>
                  <a:srgbClr val="264A54"/>
                </a:solidFill>
                <a:latin typeface="Arial"/>
                <a:ea typeface="Arial"/>
                <a:cs typeface="Arial"/>
              </a:rPr>
              <a:t>Мобильные ремонтные наряды</a:t>
            </a:r>
          </a:p>
          <a:p xmlns:a="http://schemas.openxmlformats.org/drawingml/2006/main">
            <a:pPr>
              <a:defRPr sz="2700">
                <a:solidFill>
                  <a:srgbClr val="264A54"/>
                </a:solidFill>
                <a:latin typeface="Arial"/>
                <a:ea typeface="Arial"/>
                <a:cs typeface="Arial"/>
              </a:defRPr>
            </a:pPr>
            <a:r>
              <a:rPr sz="2700">
                <a:solidFill>
                  <a:srgbClr val="264A54"/>
                </a:solidFill>
                <a:latin typeface="Arial"/>
                <a:ea typeface="Arial"/>
                <a:cs typeface="Arial"/>
              </a:rPr>
              <a:t>с доказательствами выполнения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944F53-0959-4B6C-AE59-B5C7576DC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0555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67E86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667E86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65334505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7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C6C1C4-1D51-488A-89BF-B922468B2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9600"/>
            <a:ext cx="107442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83038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83038"/>
                </a:solidFill>
                <a:latin typeface="Arial"/>
                <a:ea typeface="Arial"/>
                <a:cs typeface="Arial"/>
              </a:rPr>
              <a:t>Одна карточка ремонта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D6052D-BA23-4C8F-A5A7-422664867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00250"/>
            <a:ext cx="10620375" cy="404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>
                <a:solidFill>
                  <a:srgbClr val="264A54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264A54"/>
                </a:solidFill>
                <a:latin typeface="Arial"/>
                <a:ea typeface="Arial"/>
                <a:cs typeface="Arial"/>
              </a:rPr>
              <a:t>Мастер видит очередь и назначает исполнителя.</a:t>
            </a:r>
          </a:p>
          <a:p xmlns:a="http://schemas.openxmlformats.org/drawingml/2006/main">
            <a:pPr>
              <a:defRPr sz="2400">
                <a:solidFill>
                  <a:srgbClr val="264A54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264A54"/>
                </a:solidFill>
                <a:latin typeface="Arial"/>
                <a:ea typeface="Arial"/>
                <a:cs typeface="Arial"/>
              </a:rPr>
              <a:t>Исполнитель сохраняет работы, материалы и фотографии.</a:t>
            </a:r>
          </a:p>
          <a:p xmlns:a="http://schemas.openxmlformats.org/drawingml/2006/main">
            <a:pPr>
              <a:defRPr sz="2400">
                <a:solidFill>
                  <a:srgbClr val="264A54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264A54"/>
                </a:solidFill>
                <a:latin typeface="Arial"/>
                <a:ea typeface="Arial"/>
                <a:cs typeface="Arial"/>
              </a:rPr>
              <a:t>История показывает каждый переход и его автора.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9A5668-E621-4235-AAE6-D0485549F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0555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67E86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667E86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12726667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7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5FC96C-57BA-488F-AB0F-E6582B74A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9600"/>
            <a:ext cx="107442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83038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83038"/>
                </a:solidFill>
                <a:latin typeface="Arial"/>
                <a:ea typeface="Arial"/>
                <a:cs typeface="Arial"/>
              </a:rPr>
              <a:t>Работа с телефона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0660AD-18E0-4A4E-B34B-4F3A3F909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00250"/>
            <a:ext cx="10620375" cy="404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>
                <a:solidFill>
                  <a:srgbClr val="264A54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264A54"/>
                </a:solidFill>
                <a:latin typeface="Arial"/>
                <a:ea typeface="Arial"/>
                <a:cs typeface="Arial"/>
              </a:rPr>
              <a:t>Панель смены и выдача наряда</a:t>
            </a:r>
          </a:p>
          <a:p xmlns:a="http://schemas.openxmlformats.org/drawingml/2006/main">
            <a:pPr>
              <a:defRPr sz="2400">
                <a:solidFill>
                  <a:srgbClr val="264A54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264A54"/>
                </a:solidFill>
                <a:latin typeface="Arial"/>
                <a:ea typeface="Arial"/>
                <a:cs typeface="Arial"/>
              </a:rPr>
              <a:t>Telegram со ссылкой в PWA</a:t>
            </a:r>
          </a:p>
          <a:p xmlns:a="http://schemas.openxmlformats.org/drawingml/2006/main">
            <a:pPr>
              <a:defRPr sz="2400">
                <a:solidFill>
                  <a:srgbClr val="264A54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264A54"/>
                </a:solidFill>
                <a:latin typeface="Arial"/>
                <a:ea typeface="Arial"/>
                <a:cs typeface="Arial"/>
              </a:rPr>
              <a:t>Принятие, начало, пауза и отчёт</a:t>
            </a:r>
          </a:p>
          <a:p xmlns:a="http://schemas.openxmlformats.org/drawingml/2006/main">
            <a:pPr>
              <a:defRPr sz="2400">
                <a:solidFill>
                  <a:srgbClr val="264A54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264A54"/>
                </a:solidFill>
                <a:latin typeface="Arial"/>
                <a:ea typeface="Arial"/>
                <a:cs typeface="Arial"/>
              </a:rPr>
              <a:t>Решение мастера и обновление панели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C6648C-5813-4C76-B071-FC6A4D593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0555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67E86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667E86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54374593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7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CBD5FC-1D2A-4B3F-A56C-89F68B139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9600"/>
            <a:ext cx="107442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83038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83038"/>
                </a:solidFill>
                <a:latin typeface="Arial"/>
                <a:ea typeface="Arial"/>
                <a:cs typeface="Arial"/>
              </a:rPr>
              <a:t>Проверка и приёмка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24AD0A-3708-4E72-A188-ACDB038BA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00250"/>
            <a:ext cx="10620375" cy="404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>
                <a:solidFill>
                  <a:srgbClr val="264A54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264A54"/>
                </a:solidFill>
                <a:latin typeface="Arial"/>
                <a:ea typeface="Arial"/>
                <a:cs typeface="Arial"/>
              </a:rPr>
              <a:t>ИИ сопоставляет проблему, работы и фотографии.</a:t>
            </a:r>
          </a:p>
          <a:p xmlns:a="http://schemas.openxmlformats.org/drawingml/2006/main">
            <a:pPr>
              <a:defRPr sz="2400">
                <a:solidFill>
                  <a:srgbClr val="264A54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264A54"/>
                </a:solidFill>
                <a:latin typeface="Arial"/>
                <a:ea typeface="Arial"/>
                <a:cs typeface="Arial"/>
              </a:rPr>
              <a:t>Замечания связаны с конкретными доказательствами.</a:t>
            </a:r>
          </a:p>
          <a:p xmlns:a="http://schemas.openxmlformats.org/drawingml/2006/main">
            <a:pPr>
              <a:defRPr sz="2400">
                <a:solidFill>
                  <a:srgbClr val="264A54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264A54"/>
                </a:solidFill>
                <a:latin typeface="Arial"/>
                <a:ea typeface="Arial"/>
                <a:cs typeface="Arial"/>
              </a:rPr>
              <a:t>Недостаток данных направляет результат человеку.</a:t>
            </a:r>
          </a:p>
          <a:p xmlns:a="http://schemas.openxmlformats.org/drawingml/2006/main">
            <a:pPr>
              <a:defRPr sz="2400">
                <a:solidFill>
                  <a:srgbClr val="264A54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264A54"/>
                </a:solidFill>
                <a:latin typeface="Arial"/>
                <a:ea typeface="Arial"/>
                <a:cs typeface="Arial"/>
              </a:rPr>
              <a:t>Окончательное решение принимает мастер.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8E5942-B626-4F96-8625-219DF8D1F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0555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67E86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667E86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65911360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7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1D207B-006D-45A3-A502-6EE3D4EC2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9600"/>
            <a:ext cx="107442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83038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83038"/>
                </a:solidFill>
                <a:latin typeface="Arial"/>
                <a:ea typeface="Arial"/>
                <a:cs typeface="Arial"/>
              </a:rPr>
              <a:t>Итоги смены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2FC4F5-AE88-4DB9-A7EA-43353D0C3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00250"/>
            <a:ext cx="10620375" cy="404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>
                <a:solidFill>
                  <a:srgbClr val="264A54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264A54"/>
                </a:solidFill>
                <a:latin typeface="Arial"/>
                <a:ea typeface="Arial"/>
                <a:cs typeface="Arial"/>
              </a:rPr>
              <a:t>Выданные, исполненные и закрытые считаются отдельно.</a:t>
            </a:r>
          </a:p>
          <a:p xmlns:a="http://schemas.openxmlformats.org/drawingml/2006/main">
            <a:pPr>
              <a:defRPr sz="2400">
                <a:solidFill>
                  <a:srgbClr val="264A54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264A54"/>
                </a:solidFill>
                <a:latin typeface="Arial"/>
                <a:ea typeface="Arial"/>
                <a:cs typeface="Arial"/>
              </a:rPr>
              <a:t>История сохраняет просрочку после приёмки.</a:t>
            </a:r>
          </a:p>
          <a:p xmlns:a="http://schemas.openxmlformats.org/drawingml/2006/main">
            <a:pPr>
              <a:defRPr sz="2400">
                <a:solidFill>
                  <a:srgbClr val="264A54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264A54"/>
                </a:solidFill>
                <a:latin typeface="Arial"/>
                <a:ea typeface="Arial"/>
                <a:cs typeface="Arial"/>
              </a:rPr>
              <a:t>Пересекающиеся простои оборудования объединяются.</a:t>
            </a:r>
          </a:p>
          <a:p xmlns:a="http://schemas.openxmlformats.org/drawingml/2006/main">
            <a:pPr>
              <a:defRPr sz="2400">
                <a:solidFill>
                  <a:srgbClr val="264A54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264A54"/>
                </a:solidFill>
                <a:latin typeface="Arial"/>
                <a:ea typeface="Arial"/>
                <a:cs typeface="Arial"/>
              </a:rPr>
              <a:t>Фильтры ограничивают период и разрешённые объекты.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90F0F0-1072-4FF1-A269-1FA21FC2D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0555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67E86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667E86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1991607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7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C1C081-EE6B-4637-B164-8FE891D8C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9600"/>
            <a:ext cx="107442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83038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83038"/>
                </a:solidFill>
                <a:latin typeface="Arial"/>
                <a:ea typeface="Arial"/>
                <a:cs typeface="Arial"/>
              </a:rPr>
              <a:t>Прозрачный рейтинг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E713C9-0213-4140-830E-5DE1C1F35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00250"/>
            <a:ext cx="10620375" cy="404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>
                <a:solidFill>
                  <a:srgbClr val="264A54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264A54"/>
                </a:solidFill>
                <a:latin typeface="Arial"/>
                <a:ea typeface="Arial"/>
                <a:cs typeface="Arial"/>
              </a:rPr>
              <a:t>Q: оценка мастера, вес 0,50</a:t>
            </a:r>
          </a:p>
          <a:p xmlns:a="http://schemas.openxmlformats.org/drawingml/2006/main">
            <a:pPr>
              <a:defRPr sz="2400">
                <a:solidFill>
                  <a:srgbClr val="264A54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264A54"/>
                </a:solidFill>
                <a:latin typeface="Arial"/>
                <a:ea typeface="Arial"/>
                <a:cs typeface="Arial"/>
              </a:rPr>
              <a:t>T: своевременная сдача, вес 0,25</a:t>
            </a:r>
          </a:p>
          <a:p xmlns:a="http://schemas.openxmlformats.org/drawingml/2006/main">
            <a:pPr>
              <a:defRPr sz="2400">
                <a:solidFill>
                  <a:srgbClr val="264A54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264A54"/>
                </a:solidFill>
                <a:latin typeface="Arial"/>
                <a:ea typeface="Arial"/>
                <a:cs typeface="Arial"/>
              </a:rPr>
              <a:t>R: подтверждённое качество, вес 0,15</a:t>
            </a:r>
          </a:p>
          <a:p xmlns:a="http://schemas.openxmlformats.org/drawingml/2006/main">
            <a:pPr>
              <a:defRPr sz="2400">
                <a:solidFill>
                  <a:srgbClr val="264A54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264A54"/>
                </a:solidFill>
                <a:latin typeface="Arial"/>
                <a:ea typeface="Arial"/>
                <a:cs typeface="Arial"/>
              </a:rPr>
              <a:t>V: нормативная загрузка, вес 0,10</a:t>
            </a:r>
          </a:p>
          <a:p xmlns:a="http://schemas.openxmlformats.org/drawingml/2006/main">
            <a:pPr>
              <a:defRPr sz="2400">
                <a:solidFill>
                  <a:srgbClr val="264A54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264A54"/>
                </a:solidFill>
                <a:latin typeface="Arial"/>
                <a:ea typeface="Arial"/>
                <a:cs typeface="Arial"/>
              </a:rPr>
              <a:t>R и V пока «нет данных». Доступные веса нормируются.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D8C1B6-CE12-4931-862A-71E10B81B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0555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67E86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667E86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58034453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7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0DCE92-D58C-4CDB-8F06-6A17E597A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9600"/>
            <a:ext cx="107442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83038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83038"/>
                </a:solidFill>
                <a:latin typeface="Arial"/>
                <a:ea typeface="Arial"/>
                <a:cs typeface="Arial"/>
              </a:rPr>
              <a:t>Закономерности в истории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895BE3-7478-4185-AFC1-5DA2560D1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00250"/>
            <a:ext cx="10620375" cy="404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>
                <a:solidFill>
                  <a:srgbClr val="264A54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264A54"/>
                </a:solidFill>
                <a:latin typeface="Arial"/>
                <a:ea typeface="Arial"/>
                <a:cs typeface="Arial"/>
              </a:rPr>
              <a:t>Повтор одного шифра на оборудовании за 7 дней</a:t>
            </a:r>
          </a:p>
          <a:p xmlns:a="http://schemas.openxmlformats.org/drawingml/2006/main">
            <a:pPr>
              <a:defRPr sz="2400">
                <a:solidFill>
                  <a:srgbClr val="264A54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264A54"/>
                </a:solidFill>
                <a:latin typeface="Arial"/>
                <a:ea typeface="Arial"/>
                <a:cs typeface="Arial"/>
              </a:rPr>
              <a:t>Авария после принятой плановой работы за 48 часов</a:t>
            </a:r>
          </a:p>
          <a:p xmlns:a="http://schemas.openxmlformats.org/drawingml/2006/main">
            <a:pPr>
              <a:defRPr sz="2400">
                <a:solidFill>
                  <a:srgbClr val="264A54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264A54"/>
                </a:solidFill>
                <a:latin typeface="Arial"/>
                <a:ea typeface="Arial"/>
                <a:cs typeface="Arial"/>
              </a:rPr>
              <a:t>Расход материала выше сопоставимой нормы</a:t>
            </a:r>
          </a:p>
          <a:p xmlns:a="http://schemas.openxmlformats.org/drawingml/2006/main">
            <a:pPr>
              <a:defRPr sz="2400">
                <a:solidFill>
                  <a:srgbClr val="264A54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264A54"/>
                </a:solidFill>
                <a:latin typeface="Arial"/>
                <a:ea typeface="Arial"/>
                <a:cs typeface="Arial"/>
              </a:rPr>
              <a:t>У каждого сигнала есть числа и ссылки на наряды.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79B9C8-24BC-40DB-B585-31D7865C6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0555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67E86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667E86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6108152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4F7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100798-E175-4C24-9C4E-37F89F552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9600"/>
            <a:ext cx="107442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83038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83038"/>
                </a:solidFill>
                <a:latin typeface="Arial"/>
                <a:ea typeface="Arial"/>
                <a:cs typeface="Arial"/>
              </a:rPr>
              <a:t>Проверка перед применением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C4C7A6-2A94-4676-81A6-F1288C276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00250"/>
            <a:ext cx="10620375" cy="404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>
                <a:solidFill>
                  <a:srgbClr val="264A54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264A54"/>
                </a:solidFill>
                <a:latin typeface="Arial"/>
                <a:ea typeface="Arial"/>
                <a:cs typeface="Arial"/>
              </a:rPr>
              <a:t>Автоматические проверки: права, расчёты и восстановление.</a:t>
            </a:r>
          </a:p>
          <a:p xmlns:a="http://schemas.openxmlformats.org/drawingml/2006/main">
            <a:pPr>
              <a:defRPr sz="2400">
                <a:solidFill>
                  <a:srgbClr val="264A54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264A54"/>
                </a:solidFill>
                <a:latin typeface="Arial"/>
                <a:ea typeface="Arial"/>
                <a:cs typeface="Arial"/>
              </a:rPr>
              <a:t>Мобильный прогон: два iPhone, затем настоящий Android.</a:t>
            </a:r>
          </a:p>
          <a:p xmlns:a="http://schemas.openxmlformats.org/drawingml/2006/main">
            <a:pPr>
              <a:defRPr sz="2400">
                <a:solidFill>
                  <a:srgbClr val="264A54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264A54"/>
                </a:solidFill>
                <a:latin typeface="Arial"/>
                <a:ea typeface="Arial"/>
                <a:cs typeface="Arial"/>
              </a:rPr>
              <a:t>Цели: выдача ≤60 с, события ≤5 с, фото ≤10 с.</a:t>
            </a:r>
          </a:p>
          <a:p xmlns:a="http://schemas.openxmlformats.org/drawingml/2006/main">
            <a:pPr>
              <a:defRPr sz="2400">
                <a:solidFill>
                  <a:srgbClr val="264A54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264A54"/>
                </a:solidFill>
                <a:latin typeface="Arial"/>
                <a:ea typeface="Arial"/>
                <a:cs typeface="Arial"/>
              </a:rPr>
              <a:t>Живые Telegram и ИИ проверяются отдельно.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35E3DF-B802-4637-80FB-9C12026B5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0555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67E86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667E86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2426411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2026-10-07T17:51:10.5960000Z</dcterms:created>
  <dcterms:modified xsi:type="dcterms:W3CDTF">2026-10-07T17:51:10.5960000Z</dcterms:modified>
</coreProperties>
</file>